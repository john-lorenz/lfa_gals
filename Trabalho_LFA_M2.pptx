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trabalho M2: uma linguagem de números binários e seu interpretador, feitos no GALS (léxico + sintático SLR) com ações semânticas em 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Requisitos do enunciado: atribuição, exibição e as seis operações, sempre com binários inteiros sem sinal. O exemplo do enunciado é o programa usado nas próximas telas.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binario aceita só 0 e 1; id começa com letra, então não há ambiguidade com números. Show e log são definidos como casos especiais de id, que é como o GALS trata palavras reservadas.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nível de precedência é um não-terminal: expressao (+ -), termo (* /), fator (^) e base (valores, parênteses e log). Na tela os tokens aparecem pelo símbolo para ficar legível; no arquivo .gals eles têm nome (soma, pv...).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ações rodam na ordem das reduções do parser. Os operandos ficam numa pilha: cada operação desempilha dois valores e empilha o resultado. BigInteger evita overflow. O log foi definido na base 2, coerente com números binários.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multiplicação é reduzida antes da soma porque termo fica abaixo de expressao na gramática. B do lado direito ainda vale 11 quando é lido; só a ação #2, no fim, grava o novo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Léxico e sintático vêm das tabelas geradas pelo GALS. Os semânticos são lançados pelo Semantico.java como SemanticError, porque a linguagem é só de binários sem sinal.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Saídas reais do interpretador para o arquivo exemplos/todas_operacoes.txt. A coluna decimal é só para conferência; a linguagem imprime em binário.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Arquivos entregues: trabalho_m2.gals, src/gals (código gerado + Semantico.java + Main.java) e a pasta exemplos.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6692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LFA · Trabalho M2 · Interpretador de binários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Interpretador de binários com GALS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Linguagens Formais e Autômatos · Trabalho M2</a:t>
            </a:r>
            <a:endParaRPr lang="en-US" sz="16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accent6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João Arthur dos Santos Lorenzoni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Prof. Alex Luciano Roesler Rese, MSc. · UNIVALI</a:t>
            </a:r>
            <a:endParaRPr lang="en-US" sz="1600" dirty="0"/>
          </a:p>
        </p:txBody>
      </p:sp>
      <p:sp>
        <p:nvSpPr>
          <p:cNvPr id="4" name="Decoração binária"/>
          <p:cNvSpPr txBox="1"/>
          <p:nvPr/>
        </p:nvSpPr>
        <p:spPr>
          <a:xfrm>
            <a:off x="6675120" y="548640"/>
            <a:ext cx="2103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1101</a:t>
            </a:r>
            <a:endParaRPr lang="en-US" sz="3000" dirty="0"/>
          </a:p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</a:t>
            </a:r>
            <a:endParaRPr lang="en-US" sz="3000" dirty="0"/>
          </a:p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1011</a:t>
            </a:r>
            <a:endParaRPr lang="en-US" sz="3000" dirty="0"/>
          </a:p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0010</a:t>
            </a:r>
            <a:endParaRPr lang="en-US" sz="3000" dirty="0"/>
          </a:p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1110</a:t>
            </a:r>
            <a:endParaRPr lang="en-US" sz="3000" dirty="0"/>
          </a:p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0101</a:t>
            </a:r>
            <a:endParaRPr lang="en-US" sz="3000" dirty="0"/>
          </a:p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que a linguagem precisa fazer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Exemplo do enunciado</a:t>
            </a:r>
            <a:endParaRPr lang="en-US" sz="1400" dirty="0"/>
          </a:p>
        </p:txBody>
      </p:sp>
      <p:sp>
        <p:nvSpPr>
          <p:cNvPr id="4" name="Cartão de código"/>
          <p:cNvSpPr/>
          <p:nvPr/>
        </p:nvSpPr>
        <p:spPr>
          <a:xfrm>
            <a:off x="457200" y="1554480"/>
            <a:ext cx="3657600" cy="201168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10;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11;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111 + A * B;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( B );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Tudo é inteiro binário sem sinal: só os dígitos 0 e 1, nunca negativo.</a:t>
            </a:r>
            <a:endParaRPr lang="en-US" sz="1400" dirty="0"/>
          </a:p>
        </p:txBody>
      </p:sp>
      <p:sp>
        <p:nvSpPr>
          <p:cNvPr id="7" name="Símbolo Atribuição"/>
          <p:cNvSpPr/>
          <p:nvPr/>
        </p:nvSpPr>
        <p:spPr>
          <a:xfrm>
            <a:off x="4572000" y="1280160"/>
            <a:ext cx="13716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2801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Atribuição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627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Variável recebe um valor ou uma expressão</a:t>
            </a:r>
            <a:endParaRPr lang="en-US" sz="1400" dirty="0"/>
          </a:p>
        </p:txBody>
      </p:sp>
      <p:sp>
        <p:nvSpPr>
          <p:cNvPr id="11" name="Símbolo Exibição"/>
          <p:cNvSpPr/>
          <p:nvPr/>
        </p:nvSpPr>
        <p:spPr>
          <a:xfrm>
            <a:off x="4572000" y="2377440"/>
            <a:ext cx="13716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377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Exibição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724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Show( ... ) mostra o valor na tela</a:t>
            </a:r>
            <a:endParaRPr lang="en-US" sz="1400" dirty="0"/>
          </a:p>
        </p:txBody>
      </p:sp>
      <p:sp>
        <p:nvSpPr>
          <p:cNvPr id="15" name="Símbolo Cálculo"/>
          <p:cNvSpPr/>
          <p:nvPr/>
        </p:nvSpPr>
        <p:spPr>
          <a:xfrm>
            <a:off x="4572000" y="3474720"/>
            <a:ext cx="13716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4747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− * / ^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Cálculo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822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Soma, subtração, multiplicação, divisão, potência e log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Análise léxica: os tokens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Token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Definição no GALS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binario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[01]+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{letra}({letra}|{digito})*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A, Soma, x1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show, log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 : "Show" / "log"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Show, log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atribuicao, pv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"="  ";"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  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abre_par, fecha_par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"("  ")"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  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soma … potencia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"+" "-" "*" "/" "^"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- * / ^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Observações léxicas"/>
          <p:cNvSpPr/>
          <p:nvPr/>
        </p:nvSpPr>
        <p:spPr>
          <a:xfrm>
            <a:off x="6675120" y="1188720"/>
            <a:ext cx="2011680" cy="2688336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12280" y="1325880"/>
            <a:ext cx="173736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Palavras reservadas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Show e log são casos especiais de id, então não podem ser nomes de variável.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Só binário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"12" já é erro léxico: 2 não é dígito binário.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Espaços e quebras de linha são ignorados.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Gramática livre de contexto (SLR)</a:t>
            </a:r>
            <a:endParaRPr lang="en-US" sz="3000" dirty="0"/>
          </a:p>
        </p:txBody>
      </p:sp>
      <p:sp>
        <p:nvSpPr>
          <p:cNvPr id="3" name="Cartão de código"/>
          <p:cNvSpPr/>
          <p:nvPr/>
        </p:nvSpPr>
        <p:spPr>
          <a:xfrm>
            <a:off x="457200" y="1143000"/>
            <a:ext cx="5212080" cy="3429000"/>
          </a:xfrm>
          <a:prstGeom prst="roundRect">
            <a:avLst>
              <a:gd name="adj" fmla="val 21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4846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&lt;programa&gt;  ::= &lt;lista_comandos&gt;;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&lt;lista_comandos&gt; ::= &lt;lista_comandos&gt; &lt;comando&gt;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| &lt;comando&gt;;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&lt;comando&gt;   ::= &lt;destino&gt; = &lt;expressao&gt; ; #2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| Show ( &lt;expressao&gt; ) ; #3;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&lt;destino&gt;   ::= id #1;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&lt;expressao&gt; ::= &lt;expressao&gt; + &lt;termo&gt; #4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| &lt;expressao&gt; - &lt;termo&gt; #5 | &lt;termo&gt;;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&lt;termo&gt;     ::= &lt;termo&gt; * &lt;fator&gt; #6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| &lt;termo&gt; / &lt;fator&gt; #7 | &lt;fator&gt;;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&lt;fator&gt;     ::= &lt;base&gt; ^ &lt;fator&gt; #8 | &lt;base&gt;;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&lt;base&gt;      ::= binario #9 | id #10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| ( &lt;expressao&gt; 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| log ( &lt;expressao&gt; ) #11;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Precedência</a:t>
            </a:r>
            <a:endParaRPr lang="en-US" sz="1600" dirty="0"/>
          </a:p>
        </p:txBody>
      </p:sp>
      <p:sp>
        <p:nvSpPr>
          <p:cNvPr id="6" name="Nível 1"/>
          <p:cNvSpPr/>
          <p:nvPr/>
        </p:nvSpPr>
        <p:spPr>
          <a:xfrm>
            <a:off x="6035040" y="1554480"/>
            <a:ext cx="2651760" cy="475488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72200" y="15544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  log( 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5544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maior</a:t>
            </a:r>
            <a:endParaRPr lang="en-US" sz="1200" dirty="0"/>
          </a:p>
        </p:txBody>
      </p:sp>
      <p:sp>
        <p:nvSpPr>
          <p:cNvPr id="9" name="Nível 2"/>
          <p:cNvSpPr/>
          <p:nvPr/>
        </p:nvSpPr>
        <p:spPr>
          <a:xfrm>
            <a:off x="6035040" y="2121408"/>
            <a:ext cx="265176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21214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12140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à direita</a:t>
            </a:r>
            <a:endParaRPr lang="en-US" sz="1200" dirty="0"/>
          </a:p>
        </p:txBody>
      </p:sp>
      <p:sp>
        <p:nvSpPr>
          <p:cNvPr id="12" name="Nível 3"/>
          <p:cNvSpPr/>
          <p:nvPr/>
        </p:nvSpPr>
        <p:spPr>
          <a:xfrm>
            <a:off x="6035040" y="2688336"/>
            <a:ext cx="2651760" cy="475488"/>
          </a:xfrm>
          <a:prstGeom prst="roundRect">
            <a:avLst>
              <a:gd name="adj" fmla="val 1538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26883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/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6883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à esquerda</a:t>
            </a:r>
            <a:endParaRPr lang="en-US" sz="1200" dirty="0"/>
          </a:p>
        </p:txBody>
      </p:sp>
      <p:sp>
        <p:nvSpPr>
          <p:cNvPr id="15" name="Nível 4"/>
          <p:cNvSpPr/>
          <p:nvPr/>
        </p:nvSpPr>
        <p:spPr>
          <a:xfrm>
            <a:off x="6035040" y="3255264"/>
            <a:ext cx="26517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32552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25526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menor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840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Recursão à esquerda dá associatividade à esquerda; ^ usa recursão à direita. O GALS gerou a tabela SLR(1) sem conflitos.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Ações semânticas: o interpretador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Comandos e valores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39319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 que faz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Guarda o nome da variável de destino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Desempilha o resultado e grava na variável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Desempilha e imprime em binário (Show)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Empilha a constante binária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Empilha o valor da variável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Operações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63040"/>
          <a:ext cx="39319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 que faz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 + 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 − b  (erro se negativo)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 × 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 ÷ b inteira  (erro se b = 0)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 ^ 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#11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log₂(x), parte inteira  (erro se x = 0)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Estado do interpretador: uma pilha de BigInteger e um mapa variável → valor.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Executando B = 111 + A * 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 A = 10 (2) e B = 11 (3), as ações disparam nesta ordem:</a:t>
            </a:r>
            <a:endParaRPr lang="en-US" sz="1400" dirty="0"/>
          </a:p>
        </p:txBody>
      </p:sp>
      <p:sp>
        <p:nvSpPr>
          <p:cNvPr id="4" name="Ação #9"/>
          <p:cNvSpPr/>
          <p:nvPr/>
        </p:nvSpPr>
        <p:spPr>
          <a:xfrm>
            <a:off x="685800" y="1463040"/>
            <a:ext cx="91440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lê 111</a:t>
            </a:r>
            <a:endParaRPr lang="en-US" sz="1200" dirty="0"/>
          </a:p>
        </p:txBody>
      </p:sp>
      <p:sp>
        <p:nvSpPr>
          <p:cNvPr id="7" name="Pilha passo 1"/>
          <p:cNvSpPr/>
          <p:nvPr/>
        </p:nvSpPr>
        <p:spPr>
          <a:xfrm>
            <a:off x="594360" y="3191256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1912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</a:t>
            </a:r>
            <a:endParaRPr lang="en-US" sz="1400" dirty="0"/>
          </a:p>
        </p:txBody>
      </p:sp>
      <p:sp>
        <p:nvSpPr>
          <p:cNvPr id="9" name="Ação #10"/>
          <p:cNvSpPr/>
          <p:nvPr/>
        </p:nvSpPr>
        <p:spPr>
          <a:xfrm>
            <a:off x="2057400" y="1463040"/>
            <a:ext cx="91440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57400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lê A</a:t>
            </a:r>
            <a:endParaRPr lang="en-US" sz="1200" dirty="0"/>
          </a:p>
        </p:txBody>
      </p:sp>
      <p:sp>
        <p:nvSpPr>
          <p:cNvPr id="12" name="Pilha passo 2"/>
          <p:cNvSpPr/>
          <p:nvPr/>
        </p:nvSpPr>
        <p:spPr>
          <a:xfrm>
            <a:off x="1965960" y="3191256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65960" y="31912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</a:t>
            </a:r>
            <a:endParaRPr lang="en-US" sz="1400" dirty="0"/>
          </a:p>
        </p:txBody>
      </p:sp>
      <p:sp>
        <p:nvSpPr>
          <p:cNvPr id="14" name="Pilha passo 2"/>
          <p:cNvSpPr/>
          <p:nvPr/>
        </p:nvSpPr>
        <p:spPr>
          <a:xfrm>
            <a:off x="1965960" y="2770632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6596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16" name="Ação #10"/>
          <p:cNvSpPr/>
          <p:nvPr/>
        </p:nvSpPr>
        <p:spPr>
          <a:xfrm>
            <a:off x="3429000" y="1463040"/>
            <a:ext cx="91440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lê B</a:t>
            </a:r>
            <a:endParaRPr lang="en-US" sz="1200" dirty="0"/>
          </a:p>
        </p:txBody>
      </p:sp>
      <p:sp>
        <p:nvSpPr>
          <p:cNvPr id="19" name="Pilha passo 3"/>
          <p:cNvSpPr/>
          <p:nvPr/>
        </p:nvSpPr>
        <p:spPr>
          <a:xfrm>
            <a:off x="3337560" y="3191256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37560" y="31912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</a:t>
            </a:r>
            <a:endParaRPr lang="en-US" sz="1400" dirty="0"/>
          </a:p>
        </p:txBody>
      </p:sp>
      <p:sp>
        <p:nvSpPr>
          <p:cNvPr id="21" name="Pilha passo 3"/>
          <p:cNvSpPr/>
          <p:nvPr/>
        </p:nvSpPr>
        <p:spPr>
          <a:xfrm>
            <a:off x="3337560" y="2770632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3756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23" name="Pilha passo 3"/>
          <p:cNvSpPr/>
          <p:nvPr/>
        </p:nvSpPr>
        <p:spPr>
          <a:xfrm>
            <a:off x="3337560" y="2350008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37560" y="2350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400" dirty="0"/>
          </a:p>
        </p:txBody>
      </p:sp>
      <p:sp>
        <p:nvSpPr>
          <p:cNvPr id="25" name="Ação #6"/>
          <p:cNvSpPr/>
          <p:nvPr/>
        </p:nvSpPr>
        <p:spPr>
          <a:xfrm>
            <a:off x="4800600" y="1463040"/>
            <a:ext cx="91440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10 × 11</a:t>
            </a:r>
            <a:endParaRPr lang="en-US" sz="1200" dirty="0"/>
          </a:p>
        </p:txBody>
      </p:sp>
      <p:sp>
        <p:nvSpPr>
          <p:cNvPr id="28" name="Pilha passo 4"/>
          <p:cNvSpPr/>
          <p:nvPr/>
        </p:nvSpPr>
        <p:spPr>
          <a:xfrm>
            <a:off x="4709160" y="3191256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09160" y="31912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</a:t>
            </a:r>
            <a:endParaRPr lang="en-US" sz="1400" dirty="0"/>
          </a:p>
        </p:txBody>
      </p:sp>
      <p:sp>
        <p:nvSpPr>
          <p:cNvPr id="30" name="Pilha passo 4"/>
          <p:cNvSpPr/>
          <p:nvPr/>
        </p:nvSpPr>
        <p:spPr>
          <a:xfrm>
            <a:off x="4709160" y="2770632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0916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</a:t>
            </a:r>
            <a:endParaRPr lang="en-US" sz="1400" dirty="0"/>
          </a:p>
        </p:txBody>
      </p:sp>
      <p:sp>
        <p:nvSpPr>
          <p:cNvPr id="32" name="Ação #4"/>
          <p:cNvSpPr/>
          <p:nvPr/>
        </p:nvSpPr>
        <p:spPr>
          <a:xfrm>
            <a:off x="6172200" y="1463040"/>
            <a:ext cx="91440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72200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111 + 110</a:t>
            </a:r>
            <a:endParaRPr lang="en-US" sz="1200" dirty="0"/>
          </a:p>
        </p:txBody>
      </p:sp>
      <p:sp>
        <p:nvSpPr>
          <p:cNvPr id="35" name="Pilha passo 5"/>
          <p:cNvSpPr/>
          <p:nvPr/>
        </p:nvSpPr>
        <p:spPr>
          <a:xfrm>
            <a:off x="6080760" y="3191256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80760" y="31912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1101</a:t>
            </a:r>
            <a:endParaRPr lang="en-US" sz="1400" dirty="0"/>
          </a:p>
        </p:txBody>
      </p:sp>
      <p:sp>
        <p:nvSpPr>
          <p:cNvPr id="37" name="Ação #2"/>
          <p:cNvSpPr/>
          <p:nvPr/>
        </p:nvSpPr>
        <p:spPr>
          <a:xfrm>
            <a:off x="7543800" y="1463040"/>
            <a:ext cx="91440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43800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73152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 ← 1101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0" y="32278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pilha vazia</a:t>
            </a:r>
            <a:endParaRPr lang="en-US" sz="1200" dirty="0"/>
          </a:p>
        </p:txBody>
      </p:sp>
      <p:sp>
        <p:nvSpPr>
          <p:cNvPr id="41" name="Base da pilha"/>
          <p:cNvSpPr/>
          <p:nvPr/>
        </p:nvSpPr>
        <p:spPr>
          <a:xfrm>
            <a:off x="548640" y="3657600"/>
            <a:ext cx="804672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( B );  → 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1101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   (7 + 2 × 3 = 13)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Erros detectados</a:t>
            </a:r>
            <a:endParaRPr lang="en-US" sz="3000" dirty="0"/>
          </a:p>
        </p:txBody>
      </p:sp>
      <p:sp>
        <p:nvSpPr>
          <p:cNvPr id="3" name="Erro 1"/>
          <p:cNvSpPr/>
          <p:nvPr/>
        </p:nvSpPr>
        <p:spPr>
          <a:xfrm>
            <a:off x="45720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ipo de erro"/>
          <p:cNvSpPr/>
          <p:nvPr/>
        </p:nvSpPr>
        <p:spPr>
          <a:xfrm>
            <a:off x="640080" y="1280160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Léxico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07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12;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299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Caractere não esperado: '2'</a:t>
            </a:r>
            <a:endParaRPr lang="en-US" sz="1300" dirty="0"/>
          </a:p>
        </p:txBody>
      </p:sp>
      <p:sp>
        <p:nvSpPr>
          <p:cNvPr id="8" name="Erro 2"/>
          <p:cNvSpPr/>
          <p:nvPr/>
        </p:nvSpPr>
        <p:spPr>
          <a:xfrm>
            <a:off x="466344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ipo de erro"/>
          <p:cNvSpPr/>
          <p:nvPr/>
        </p:nvSpPr>
        <p:spPr>
          <a:xfrm>
            <a:off x="4846320" y="1280160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80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Sintático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007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 +;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0299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encontrado ';', mas era esperado: número binário, identificador, log, '('</a:t>
            </a:r>
            <a:endParaRPr lang="en-US" sz="1300" dirty="0"/>
          </a:p>
        </p:txBody>
      </p:sp>
      <p:sp>
        <p:nvSpPr>
          <p:cNvPr id="13" name="Erro 3"/>
          <p:cNvSpPr/>
          <p:nvPr/>
        </p:nvSpPr>
        <p:spPr>
          <a:xfrm>
            <a:off x="457200" y="265176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ipo de erro"/>
          <p:cNvSpPr/>
          <p:nvPr/>
        </p:nvSpPr>
        <p:spPr>
          <a:xfrm>
            <a:off x="640080" y="2834640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34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Semântico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552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 - B;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84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Subtração com resultado negativo (10 - 11)</a:t>
            </a:r>
            <a:endParaRPr lang="en-US" sz="1300" dirty="0"/>
          </a:p>
        </p:txBody>
      </p:sp>
      <p:sp>
        <p:nvSpPr>
          <p:cNvPr id="18" name="Erro 4"/>
          <p:cNvSpPr/>
          <p:nvPr/>
        </p:nvSpPr>
        <p:spPr>
          <a:xfrm>
            <a:off x="4663440" y="265176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ipo de erro"/>
          <p:cNvSpPr/>
          <p:nvPr/>
        </p:nvSpPr>
        <p:spPr>
          <a:xfrm>
            <a:off x="4846320" y="2834640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834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Semântico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2552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0   log(0)   Show(Z)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84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Divisão por zero, log(0), variável não definida e expoente acima de 100000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Toda mensagem indica linha e coluna, ex.: Erro semântico na linha 3, coluna 9.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Testes com X = 1100 e Y = 11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7548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Show( ... 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Saída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Decimal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- 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* 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100100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/ 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^ 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log(X)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(X + Y) * 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^ 11 ^ 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1000000000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57784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Como rodar</a:t>
            </a:r>
            <a:endParaRPr lang="en-US" sz="1500" dirty="0"/>
          </a:p>
        </p:txBody>
      </p:sp>
      <p:sp>
        <p:nvSpPr>
          <p:cNvPr id="5" name="Cartão de código"/>
          <p:cNvSpPr/>
          <p:nvPr/>
        </p:nvSpPr>
        <p:spPr>
          <a:xfrm>
            <a:off x="5577840" y="1463040"/>
            <a:ext cx="310896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60720" y="16002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 -encoding UTF-8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bin src\gals\*.java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-cp bin gals.Main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exemplos\enunciado.txt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10 ^ 11 ^ 10 confirma a associatividade à direita: 2^(3^2) = 512, e não (2^3)^2 = 64.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Resumo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Léxico e sintático SLR(1) gerados pelo GALS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Interpretador nas ações semânticas, com pilha e tabela de variáveis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Todas as operações pedidas, só com binários sem sinal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Erros léxicos, sintáticos e semânticos com linha e coluna</a:t>
            </a:r>
            <a:endParaRPr lang="en-US" sz="1600" dirty="0"/>
          </a:p>
        </p:txBody>
      </p:sp>
      <p:sp>
        <p:nvSpPr>
          <p:cNvPr id="4" name="Encerramento"/>
          <p:cNvSpPr/>
          <p:nvPr/>
        </p:nvSpPr>
        <p:spPr>
          <a:xfrm>
            <a:off x="6583680" y="301752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0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Obrigado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FA Binario">
  <a:themeElements>
    <a:clrScheme name="LFA Binario">
      <a:dk1>
        <a:srgbClr val="1C2430"/>
      </a:dk1>
      <a:lt1>
        <a:srgbClr val="FFFFFF"/>
      </a:lt1>
      <a:dk2>
        <a:srgbClr val="3A4756"/>
      </a:dk2>
      <a:lt2>
        <a:srgbClr val="EAF4EF"/>
      </a:lt2>
      <a:accent1>
        <a:srgbClr val="15965F"/>
      </a:accent1>
      <a:accent2>
        <a:srgbClr val="0D5C3B"/>
      </a:accent2>
      <a:accent3>
        <a:srgbClr val="F2B134"/>
      </a:accent3>
      <a:accent4>
        <a:srgbClr val="6B7A8A"/>
      </a:accent4>
      <a:accent5>
        <a:srgbClr val="C9453F"/>
      </a:accent5>
      <a:accent6>
        <a:srgbClr val="9ED9BD"/>
      </a:accent6>
      <a:hlink>
        <a:srgbClr val="15965F"/>
      </a:hlink>
      <a:folHlink>
        <a:srgbClr val="0D5C3B"/>
      </a:folHlink>
    </a:clrScheme>
    <a:fontScheme name="LFA Binari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Interpretador de binários com GALS</dc:title>
  <dc:subject>PptxGenJS Presentation</dc:subject>
  <dc:creator>João Arthur dos Santos Lorenzoni</dc:creator>
  <cp:lastModifiedBy>João Arthur dos Santos Lorenzoni</cp:lastModifiedBy>
  <cp:revision>1</cp:revision>
  <dcterms:created xsi:type="dcterms:W3CDTF">2026-10-26T00:41:02Z</dcterms:created>
  <dcterms:modified xsi:type="dcterms:W3CDTF">2026-10-26T00:41:02Z</dcterms:modified>
</cp:coreProperties>
</file>